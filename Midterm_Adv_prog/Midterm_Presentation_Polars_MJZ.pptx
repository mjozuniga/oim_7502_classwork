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5" r:id="rId4"/>
    <p:sldId id="260" r:id="rId5"/>
    <p:sldId id="263" r:id="rId6"/>
    <p:sldId id="270" r:id="rId7"/>
    <p:sldId id="261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75FF"/>
    <a:srgbClr val="0075FF"/>
    <a:srgbClr val="EDF5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49"/>
    <p:restoredTop sz="87393"/>
  </p:normalViewPr>
  <p:slideViewPr>
    <p:cSldViewPr snapToGrid="0">
      <p:cViewPr varScale="1">
        <p:scale>
          <a:sx n="106" d="100"/>
          <a:sy n="106" d="100"/>
        </p:scale>
        <p:origin x="1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C71F3-FD4E-6B49-A51D-34AC83CCD0EB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0D24B-929F-7C45-A653-218F15666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5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0D24B-929F-7C45-A653-218F15666F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16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707C7-5828-6183-07A5-2DDCAE10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66AD9-39F6-77FB-5A91-58506331B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6EAF6-2CF4-F1B2-B07B-174A4DCD8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B8F80-58F1-F6AC-7630-7D6694ADF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0D24B-929F-7C45-A653-218F15666F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41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13F9C-5FB6-45C1-EAD3-DD9FE2DD5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2977F-020E-A4B3-4618-848BCD328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16AC5-0293-6AF6-EB4E-4299044D1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E508F-50FA-623A-0930-6E048B2CC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0D24B-929F-7C45-A653-218F15666F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05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9AD63-D02F-9E8F-6116-1B11ECC54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7B2F6-E15A-650C-19A1-31C18C5FB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1A91E-E2AD-1BAD-BF1F-B4C37DBB1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CFE84-2AB1-05D2-0582-6A9D5491F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0D24B-929F-7C45-A653-218F15666F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5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E73B2-9894-8D6B-1F7B-F46802F48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1FA68-8065-9151-5312-46E3DD693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0A684-BF07-7790-1135-E00FC0699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44658-5E6A-134B-7EF6-F00105AC6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0D24B-929F-7C45-A653-218F15666F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08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8DC21-C17A-84EB-446E-DF41A38A1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123A24-BE7A-1225-6961-CF4987538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C3AA2-A8D0-7827-DF04-D80E64E90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CA3A5-E798-BCB9-E839-968EBD953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0D24B-929F-7C45-A653-218F15666F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13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0F5AC-8709-0763-14D2-1EFC0DFC5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D4B5E-FE6D-5C66-9262-B1BBC34A5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E2E9F-9814-D7C2-128B-DF1342C87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2CAF4-6930-983D-F32A-47031EAB0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0D24B-929F-7C45-A653-218F15666F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97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88D71-2ED1-A389-E1A6-6F368A479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EF90F-BE87-A4BC-338F-63363D212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C25D3-7D9F-9CEC-10E1-2541F1CCB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E0C41-E785-901D-49CD-FC06E0A4B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0D24B-929F-7C45-A653-218F15666F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64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AD538-410F-C2D4-E86E-DCAEDEA7C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A39A8-D367-7A52-B54A-729262BF8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3E8A0-474F-4AD5-B541-15305B14D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50FB-1056-EF21-303E-E6D826C6BF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0D24B-929F-7C45-A653-218F15666F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00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71DD1-8244-6053-E8CB-8B26D26A6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0B54A-2796-3B2B-21E3-819B602AF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F3FCB-0467-AAE3-5617-4CF71D954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6C4E7-71F4-67F7-39F9-D6CFA0D63E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0D24B-929F-7C45-A653-218F15666F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5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B107-4008-0EAE-1982-C3B5FB45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2BD4E-021E-3E04-4005-017FA8E14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21E63-288C-3B5D-15A7-2EECA5C7A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CF8CD-F6F9-243F-8BD0-A91E34BFD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0D24B-929F-7C45-A653-218F15666F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03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E71B-6106-9EC1-FABC-372EE23C1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412ADA-F0BE-852C-BEF9-DD3AB3329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79010-5380-CFA3-1347-5CE1A942F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552C-F9EB-F04E-B8F0-C065B45C1CC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79120-EC3A-6B01-0D45-5EC559D85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9A9D3-F5A0-A950-9F6F-B8E286B4C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8E9-2EF8-0945-B5D8-A91B8BBC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19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D8D1-EFA7-4AB9-2484-D46EEFFB8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BFA90-B234-E575-F0E9-DBD734C0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C939C-2F0A-EB77-735C-A2453028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552C-F9EB-F04E-B8F0-C065B45C1CC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8C9F2-416A-7F32-4C94-2179FE226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F1C66-BAFF-DC76-FF14-0FC7FAF24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8E9-2EF8-0945-B5D8-A91B8BBC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3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C9EA3-E3F6-70BC-0576-815272B90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C322F-ECA2-6E23-3C1B-4514F6328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734C3-6B01-3A18-DF5D-BDF5D0D6B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552C-F9EB-F04E-B8F0-C065B45C1CC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74350-C4BF-D4A7-25F2-96AAE4397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D59C8-4F75-0CE4-A21A-C9181073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8E9-2EF8-0945-B5D8-A91B8BBC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74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2CE5C-6282-CD35-9CC6-CB3CD3D22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780B3-3BD3-D54E-FB51-916B0AC80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C5A62-56FF-5948-0387-AFDF7F519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8F063-FC2A-52F4-832C-501C00647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552C-F9EB-F04E-B8F0-C065B45C1CC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759CA-2AB7-7462-CD7C-26EE585A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9B06F-F9FB-8BF2-D468-BAB3DECD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8E9-2EF8-0945-B5D8-A91B8BBC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70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ED172-0B32-D3D1-BD7A-05A5292A7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FFCE0-CFA8-1D20-3760-E89FE729D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DD45D-821A-111C-B780-3766D6B40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EDAE5D-726D-BD63-E6B2-2822AF232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65DE1-2D4D-A9A7-0110-BE91800F08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94B64D-FB06-75C4-924C-B46777ACC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552C-F9EB-F04E-B8F0-C065B45C1CC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53758C-2CE3-8A04-9F3A-9B835526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A2B71B-22A5-A73D-2FD9-6AC10E3F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8E9-2EF8-0945-B5D8-A91B8BBC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81E98-A6FC-8740-DF24-E5D2BE71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DE9DF4-310F-13D4-C679-B95CCB630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552C-F9EB-F04E-B8F0-C065B45C1CC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E4DEE-AD6A-19DE-3446-429AEBC5B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8CB46-30E7-76B0-EC96-9B968BCD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8E9-2EF8-0945-B5D8-A91B8BBC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998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15E101-81A2-4147-4877-1C851E56B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552C-F9EB-F04E-B8F0-C065B45C1CC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4B008D-330F-39D4-0FAF-3829A97AE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FAD48-AE65-F908-A1D0-2037F125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8E9-2EF8-0945-B5D8-A91B8BBC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46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41C1-9E9A-3331-A2F4-B2F8FD203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A8509-91CE-ED07-6F02-CECEDD9E2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3C44C-5F3E-A540-5C98-81DFB0ECA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A42A8-F0A6-E2C7-D83F-A5705BC92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552C-F9EB-F04E-B8F0-C065B45C1CC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86A99-590C-B673-28CC-7409DA3CC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A1842-E1DD-5AD0-D0DE-212B63502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8E9-2EF8-0945-B5D8-A91B8BBC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18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B6F2-C411-A767-F66A-51AABFFF1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4FEAB8-C363-5A6B-FBF4-464314A521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6345D-0F05-FDF6-B0BA-89188FC4F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6E5CD-5ED3-FFE7-9C2B-7999D1A9E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552C-F9EB-F04E-B8F0-C065B45C1CC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1875F-F56D-D72D-614B-830AF60F4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45C9D-EA9A-BB39-F788-2064A5BFD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8E9-2EF8-0945-B5D8-A91B8BBC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316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9254-2029-702D-F906-D0E6326A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EEF82-19E2-08C5-0B37-CA177C97E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B1752-5274-A580-FEAD-1A9B7B1C3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552C-F9EB-F04E-B8F0-C065B45C1CC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2A2C1-01C7-37C5-355E-D94B90B04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01C04-950C-3CB5-DF9B-E055DE30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8E9-2EF8-0945-B5D8-A91B8BBC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9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B60B4B-2277-AE17-3BE6-83223A45D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0F57EE-4001-9462-E8FC-E440F89D2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D87B0-6F11-8791-CAD0-7D6F6C0E6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7552C-F9EB-F04E-B8F0-C065B45C1CC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E7D24-97DC-18BC-8DE4-F81CEC00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16FAE-4DA5-9D13-9471-BF825692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8E9-2EF8-0945-B5D8-A91B8BBC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7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65E87D-1AF2-526D-03DF-51E7558C5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A6081-D615-5DA4-BDE8-6A21BE4E2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8A266-B5C0-A1E5-60D1-41C0AFB90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7552C-F9EB-F04E-B8F0-C065B45C1CCF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05C30-1508-A2E0-6E23-F6AEEFED3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E9CFE-1B15-3A72-A599-0ADFE6DF9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FB8E9-2EF8-0945-B5D8-A91B8BBCE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6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96C716-3E30-E731-3FCB-3657C137E3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“Exploring Polars: A Fast and Modern </a:t>
            </a:r>
            <a:r>
              <a:rPr lang="en-US" dirty="0" err="1"/>
              <a:t>DataFrame</a:t>
            </a:r>
            <a:r>
              <a:rPr lang="en-US" dirty="0"/>
              <a:t> Library for Python”</a:t>
            </a:r>
          </a:p>
        </p:txBody>
      </p:sp>
      <p:pic>
        <p:nvPicPr>
          <p:cNvPr id="1026" name="Picture 2" descr="Polars — Announcing Polars 1.0">
            <a:extLst>
              <a:ext uri="{FF2B5EF4-FFF2-40B4-BE49-F238E27FC236}">
                <a16:creationId xmlns:a16="http://schemas.microsoft.com/office/drawing/2014/main" id="{ACBDDE70-7C46-D869-E3D6-8F6A7ED1A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36" y="0"/>
            <a:ext cx="10168128" cy="525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BE3360-485F-1746-6232-BA2F7AD02E2D}"/>
              </a:ext>
            </a:extLst>
          </p:cNvPr>
          <p:cNvSpPr txBox="1"/>
          <p:nvPr/>
        </p:nvSpPr>
        <p:spPr>
          <a:xfrm>
            <a:off x="0" y="6103947"/>
            <a:ext cx="4627757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175FF"/>
                </a:solidFill>
                <a:latin typeface="Montserrat" pitchFamily="2" charset="77"/>
              </a:rPr>
              <a:t>Advanced Programming – Midterm</a:t>
            </a:r>
          </a:p>
          <a:p>
            <a:r>
              <a:rPr lang="en-US" sz="1100" dirty="0">
                <a:solidFill>
                  <a:srgbClr val="0175FF"/>
                </a:solidFill>
                <a:latin typeface="Montserrat" pitchFamily="2" charset="77"/>
              </a:rPr>
              <a:t>Maria Jose Zuniga</a:t>
            </a:r>
          </a:p>
          <a:p>
            <a:r>
              <a:rPr lang="en-US" sz="1100" dirty="0">
                <a:solidFill>
                  <a:srgbClr val="0175FF"/>
                </a:solidFill>
                <a:latin typeface="Montserrat" pitchFamily="2" charset="77"/>
              </a:rPr>
              <a:t>Fall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900291-C192-2D0A-C0E5-0581318EB0C0}"/>
              </a:ext>
            </a:extLst>
          </p:cNvPr>
          <p:cNvSpPr txBox="1"/>
          <p:nvPr/>
        </p:nvSpPr>
        <p:spPr>
          <a:xfrm>
            <a:off x="8599286" y="3818811"/>
            <a:ext cx="2360261" cy="460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175FF"/>
                </a:solidFill>
                <a:latin typeface="Montserrat" pitchFamily="2" charset="77"/>
              </a:rPr>
              <a:t>Exploring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CAD36D-6752-29DC-81AC-059BA5F52B46}"/>
              </a:ext>
            </a:extLst>
          </p:cNvPr>
          <p:cNvSpPr txBox="1"/>
          <p:nvPr/>
        </p:nvSpPr>
        <p:spPr>
          <a:xfrm>
            <a:off x="8599286" y="5058912"/>
            <a:ext cx="3592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175FF"/>
                </a:solidFill>
                <a:latin typeface="Montserrat" pitchFamily="2" charset="77"/>
              </a:rPr>
              <a:t>A fast and modern Data Frame library for Python</a:t>
            </a:r>
          </a:p>
        </p:txBody>
      </p:sp>
    </p:spTree>
    <p:extLst>
      <p:ext uri="{BB962C8B-B14F-4D97-AF65-F5344CB8AC3E}">
        <p14:creationId xmlns:p14="http://schemas.microsoft.com/office/powerpoint/2010/main" val="2807017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D44C5-7201-7069-DA9A-33F3E0D2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AF19-BCFE-DFED-2A72-98C72C6822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ABEDCB-5420-D010-3C7E-4B4737EF854D}"/>
              </a:ext>
            </a:extLst>
          </p:cNvPr>
          <p:cNvCxnSpPr/>
          <p:nvPr/>
        </p:nvCxnSpPr>
        <p:spPr>
          <a:xfrm>
            <a:off x="265043" y="1126435"/>
            <a:ext cx="10455966" cy="0"/>
          </a:xfrm>
          <a:prstGeom prst="line">
            <a:avLst/>
          </a:prstGeom>
          <a:ln>
            <a:solidFill>
              <a:srgbClr val="01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486863-B743-DFF1-74F7-5484531553E2}"/>
              </a:ext>
            </a:extLst>
          </p:cNvPr>
          <p:cNvSpPr txBox="1"/>
          <p:nvPr/>
        </p:nvSpPr>
        <p:spPr>
          <a:xfrm>
            <a:off x="265043" y="295438"/>
            <a:ext cx="95846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175FF"/>
                </a:solidFill>
                <a:latin typeface="Montserrat" pitchFamily="2" charset="77"/>
              </a:rPr>
              <a:t>What is Polars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629CFD-FBB7-C126-A478-C6859BBA7BD3}"/>
              </a:ext>
            </a:extLst>
          </p:cNvPr>
          <p:cNvSpPr txBox="1"/>
          <p:nvPr/>
        </p:nvSpPr>
        <p:spPr>
          <a:xfrm>
            <a:off x="608095" y="1576171"/>
            <a:ext cx="1097580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75FF"/>
                </a:solidFill>
              </a:rPr>
              <a:t> A </a:t>
            </a:r>
            <a:r>
              <a:rPr lang="en-US" sz="2400" b="1" dirty="0" err="1">
                <a:solidFill>
                  <a:srgbClr val="0175FF"/>
                </a:solidFill>
              </a:rPr>
              <a:t>DataFrame</a:t>
            </a:r>
            <a:r>
              <a:rPr lang="en-US" sz="2400" b="1" dirty="0">
                <a:solidFill>
                  <a:srgbClr val="0175FF"/>
                </a:solidFill>
              </a:rPr>
              <a:t> library</a:t>
            </a:r>
            <a:r>
              <a:rPr lang="en-US" sz="2400" dirty="0">
                <a:solidFill>
                  <a:srgbClr val="0175FF"/>
                </a:solidFill>
              </a:rPr>
              <a:t> (like Pandas) for data analysis and manipulation.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175F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175FF"/>
                </a:solidFill>
              </a:rPr>
              <a:t> Created in 2019–2020 by Ritchie </a:t>
            </a:r>
            <a:r>
              <a:rPr lang="en-US" sz="2400" b="1" dirty="0" err="1">
                <a:solidFill>
                  <a:srgbClr val="0175FF"/>
                </a:solidFill>
              </a:rPr>
              <a:t>Vink</a:t>
            </a:r>
            <a:r>
              <a:rPr lang="en-US" sz="2400" dirty="0">
                <a:solidFill>
                  <a:srgbClr val="0175FF"/>
                </a:solidFill>
              </a:rPr>
              <a:t> (Netherlands).</a:t>
            </a:r>
          </a:p>
          <a:p>
            <a:endParaRPr lang="en-US" sz="2400" dirty="0">
              <a:solidFill>
                <a:srgbClr val="0175F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75FF"/>
                </a:solidFill>
              </a:rPr>
              <a:t> Written in </a:t>
            </a:r>
            <a:r>
              <a:rPr lang="en-US" sz="2400" b="1" dirty="0">
                <a:solidFill>
                  <a:srgbClr val="0175FF"/>
                </a:solidFill>
              </a:rPr>
              <a:t>Rust</a:t>
            </a:r>
            <a:r>
              <a:rPr lang="en-US" sz="2400" dirty="0">
                <a:solidFill>
                  <a:srgbClr val="0175FF"/>
                </a:solidFill>
              </a:rPr>
              <a:t>, a systems programming language known for </a:t>
            </a:r>
            <a:r>
              <a:rPr lang="en-US" sz="2400" b="1" dirty="0">
                <a:solidFill>
                  <a:srgbClr val="0175FF"/>
                </a:solidFill>
              </a:rPr>
              <a:t>speed and safety</a:t>
            </a:r>
            <a:r>
              <a:rPr lang="en-US" sz="2400" dirty="0">
                <a:solidFill>
                  <a:srgbClr val="0175FF"/>
                </a:solidFill>
              </a:rPr>
              <a:t>.</a:t>
            </a:r>
          </a:p>
          <a:p>
            <a:endParaRPr lang="en-US" sz="2400" dirty="0">
              <a:solidFill>
                <a:srgbClr val="0175F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75FF"/>
                </a:solidFill>
              </a:rPr>
              <a:t> Lets you work with </a:t>
            </a:r>
            <a:r>
              <a:rPr lang="en-US" sz="2400" b="1" dirty="0">
                <a:solidFill>
                  <a:srgbClr val="0175FF"/>
                </a:solidFill>
              </a:rPr>
              <a:t>large datasets</a:t>
            </a:r>
            <a:r>
              <a:rPr lang="en-US" sz="2400" dirty="0">
                <a:solidFill>
                  <a:srgbClr val="0175FF"/>
                </a:solidFill>
              </a:rPr>
              <a:t> quickly and efficiently.</a:t>
            </a:r>
          </a:p>
          <a:p>
            <a:r>
              <a:rPr lang="en-US" sz="2400" i="1" dirty="0">
                <a:solidFill>
                  <a:srgbClr val="0175FF"/>
                </a:solidFill>
              </a:rPr>
              <a:t>In simple terms: it’s a faster, more modern version of Pandas.</a:t>
            </a:r>
          </a:p>
          <a:p>
            <a:endParaRPr lang="en-US" sz="2400" i="1" dirty="0">
              <a:solidFill>
                <a:srgbClr val="0175FF"/>
              </a:solidFill>
            </a:endParaRPr>
          </a:p>
          <a:p>
            <a:r>
              <a:rPr lang="en-US" sz="2400" dirty="0">
                <a:solidFill>
                  <a:srgbClr val="0175FF"/>
                </a:solidFill>
              </a:rPr>
              <a:t> Today it’s widely used in analytics, data engineering, and ML pipelines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5485D4-A78A-A905-AD4D-C57815E78C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22"/>
          <a:stretch/>
        </p:blipFill>
        <p:spPr>
          <a:xfrm>
            <a:off x="11335586" y="4701488"/>
            <a:ext cx="858756" cy="215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D3D6D-2233-964F-CB73-27DF4270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EAC0A3-C845-EAA0-AF3C-CBB5F7E7CE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B71279-26C2-6686-DDD4-807369666074}"/>
              </a:ext>
            </a:extLst>
          </p:cNvPr>
          <p:cNvCxnSpPr/>
          <p:nvPr/>
        </p:nvCxnSpPr>
        <p:spPr>
          <a:xfrm>
            <a:off x="265043" y="1126435"/>
            <a:ext cx="10455966" cy="0"/>
          </a:xfrm>
          <a:prstGeom prst="line">
            <a:avLst/>
          </a:prstGeom>
          <a:ln>
            <a:solidFill>
              <a:srgbClr val="01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0F9B008-9887-78AA-D24F-5A7B800DBE25}"/>
              </a:ext>
            </a:extLst>
          </p:cNvPr>
          <p:cNvSpPr txBox="1"/>
          <p:nvPr/>
        </p:nvSpPr>
        <p:spPr>
          <a:xfrm>
            <a:off x="265043" y="295438"/>
            <a:ext cx="95846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175FF"/>
                </a:solidFill>
                <a:latin typeface="Montserrat" pitchFamily="2" charset="77"/>
              </a:rPr>
              <a:t>Characteristics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470F33-5C77-BB03-081F-204817969CE3}"/>
              </a:ext>
            </a:extLst>
          </p:cNvPr>
          <p:cNvSpPr txBox="1"/>
          <p:nvPr/>
        </p:nvSpPr>
        <p:spPr>
          <a:xfrm>
            <a:off x="682791" y="1652705"/>
            <a:ext cx="106629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175FF"/>
                </a:solidFill>
              </a:rPr>
              <a:t> Pandas is </a:t>
            </a:r>
            <a:r>
              <a:rPr lang="en-US" sz="2800" b="1" dirty="0">
                <a:solidFill>
                  <a:srgbClr val="0175FF"/>
                </a:solidFill>
              </a:rPr>
              <a:t>great for small data</a:t>
            </a:r>
            <a:r>
              <a:rPr lang="en-US" sz="2800" dirty="0">
                <a:solidFill>
                  <a:srgbClr val="0175FF"/>
                </a:solidFill>
              </a:rPr>
              <a:t> but becomes </a:t>
            </a:r>
            <a:r>
              <a:rPr lang="en-US" sz="2800" b="1" dirty="0">
                <a:solidFill>
                  <a:srgbClr val="0175FF"/>
                </a:solidFill>
              </a:rPr>
              <a:t>slow</a:t>
            </a:r>
            <a:r>
              <a:rPr lang="en-US" sz="2800" dirty="0">
                <a:solidFill>
                  <a:srgbClr val="0175FF"/>
                </a:solidFill>
              </a:rPr>
              <a:t> with big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175FF"/>
                </a:solidFill>
              </a:rPr>
              <a:t> Many operations run on </a:t>
            </a:r>
            <a:r>
              <a:rPr lang="en-US" sz="2800" b="1" dirty="0">
                <a:solidFill>
                  <a:srgbClr val="0175FF"/>
                </a:solidFill>
              </a:rPr>
              <a:t>one CPU core only</a:t>
            </a:r>
            <a:r>
              <a:rPr lang="en-US" sz="2800" dirty="0">
                <a:solidFill>
                  <a:srgbClr val="0175FF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175FF"/>
                </a:solidFill>
              </a:rPr>
              <a:t> </a:t>
            </a:r>
            <a:r>
              <a:rPr lang="en-US" sz="2800" u="sng" dirty="0">
                <a:solidFill>
                  <a:srgbClr val="0175FF"/>
                </a:solidFill>
              </a:rPr>
              <a:t>Polars</a:t>
            </a:r>
            <a:r>
              <a:rPr lang="en-US" sz="2800" dirty="0">
                <a:solidFill>
                  <a:srgbClr val="0175FF"/>
                </a:solidFill>
              </a:rPr>
              <a:t> solves this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75FF"/>
                </a:solidFill>
              </a:rPr>
              <a:t>Using </a:t>
            </a:r>
            <a:r>
              <a:rPr lang="en-US" sz="2400" b="1" dirty="0">
                <a:solidFill>
                  <a:srgbClr val="0175FF"/>
                </a:solidFill>
              </a:rPr>
              <a:t>multi-threading</a:t>
            </a:r>
            <a:r>
              <a:rPr lang="en-US" sz="2400" dirty="0">
                <a:solidFill>
                  <a:srgbClr val="0175FF"/>
                </a:solidFill>
              </a:rPr>
              <a:t> automatically.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175FF"/>
                </a:solidFill>
              </a:rPr>
              <a:t>Optimizing queries</a:t>
            </a:r>
            <a:r>
              <a:rPr lang="en-US" sz="2400" dirty="0">
                <a:solidFill>
                  <a:srgbClr val="0175FF"/>
                </a:solidFill>
              </a:rPr>
              <a:t> before execution.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175FF"/>
                </a:solidFill>
              </a:rPr>
              <a:t>Reducing </a:t>
            </a:r>
            <a:r>
              <a:rPr lang="en-US" sz="2400" b="1" dirty="0">
                <a:solidFill>
                  <a:srgbClr val="0175FF"/>
                </a:solidFill>
              </a:rPr>
              <a:t>memory use</a:t>
            </a:r>
            <a:r>
              <a:rPr lang="en-US" sz="2400" dirty="0">
                <a:solidFill>
                  <a:srgbClr val="0175FF"/>
                </a:solidFill>
              </a:rPr>
              <a:t> through columnar storage.</a:t>
            </a:r>
          </a:p>
          <a:p>
            <a:pPr lvl="1"/>
            <a:endParaRPr lang="en-US" sz="2800" dirty="0">
              <a:solidFill>
                <a:srgbClr val="0175FF"/>
              </a:solidFill>
            </a:endParaRPr>
          </a:p>
          <a:p>
            <a:r>
              <a:rPr lang="en-US" sz="2800" i="1" dirty="0">
                <a:solidFill>
                  <a:srgbClr val="0175FF"/>
                </a:solidFill>
              </a:rPr>
              <a:t>Faster, safer, and more scalable</a:t>
            </a:r>
            <a:endParaRPr lang="en-US" sz="2800" dirty="0">
              <a:solidFill>
                <a:srgbClr val="0175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B4152A-D845-9A41-BA7A-0068C6654D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22"/>
          <a:stretch/>
        </p:blipFill>
        <p:spPr>
          <a:xfrm>
            <a:off x="11335586" y="4701488"/>
            <a:ext cx="858756" cy="215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84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448C-F441-E14E-0B00-62CF69BEA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12D923-20BB-774F-FA1A-B065A5454A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AE968F-1284-D2BE-5EEA-8788361C2762}"/>
              </a:ext>
            </a:extLst>
          </p:cNvPr>
          <p:cNvCxnSpPr/>
          <p:nvPr/>
        </p:nvCxnSpPr>
        <p:spPr>
          <a:xfrm>
            <a:off x="265043" y="1126435"/>
            <a:ext cx="10455966" cy="0"/>
          </a:xfrm>
          <a:prstGeom prst="line">
            <a:avLst/>
          </a:prstGeom>
          <a:ln>
            <a:solidFill>
              <a:srgbClr val="01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713E860-192D-CE18-7B31-ED92C5CB8589}"/>
              </a:ext>
            </a:extLst>
          </p:cNvPr>
          <p:cNvSpPr txBox="1"/>
          <p:nvPr/>
        </p:nvSpPr>
        <p:spPr>
          <a:xfrm>
            <a:off x="265043" y="295438"/>
            <a:ext cx="95846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175FF"/>
                </a:solidFill>
                <a:latin typeface="Montserrat" pitchFamily="2" charset="77"/>
              </a:rPr>
              <a:t>Use cases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F15AD6-FD0F-6040-5332-B0CB52A8FABD}"/>
              </a:ext>
            </a:extLst>
          </p:cNvPr>
          <p:cNvSpPr txBox="1"/>
          <p:nvPr/>
        </p:nvSpPr>
        <p:spPr>
          <a:xfrm>
            <a:off x="265043" y="1535355"/>
            <a:ext cx="553452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175FF"/>
                </a:solidFill>
              </a:rPr>
              <a:t>Polars was built to:</a:t>
            </a:r>
          </a:p>
          <a:p>
            <a:endParaRPr lang="en-US" sz="2000" dirty="0">
              <a:solidFill>
                <a:srgbClr val="0175FF"/>
              </a:solidFill>
            </a:endParaRPr>
          </a:p>
          <a:p>
            <a:pPr lvl="1"/>
            <a:r>
              <a:rPr lang="en-US" sz="2000" dirty="0">
                <a:solidFill>
                  <a:srgbClr val="0175FF"/>
                </a:solidFill>
              </a:rPr>
              <a:t>🧠 Use </a:t>
            </a:r>
            <a:r>
              <a:rPr lang="en-US" sz="2000" b="1" dirty="0">
                <a:solidFill>
                  <a:srgbClr val="0175FF"/>
                </a:solidFill>
              </a:rPr>
              <a:t>multi-threading</a:t>
            </a:r>
            <a:r>
              <a:rPr lang="en-US" sz="2000" dirty="0">
                <a:solidFill>
                  <a:srgbClr val="0175FF"/>
                </a:solidFill>
              </a:rPr>
              <a:t> automatically,</a:t>
            </a:r>
          </a:p>
          <a:p>
            <a:pPr lvl="1"/>
            <a:endParaRPr lang="en-US" sz="2000" dirty="0">
              <a:solidFill>
                <a:srgbClr val="0175FF"/>
              </a:solidFill>
            </a:endParaRPr>
          </a:p>
          <a:p>
            <a:pPr lvl="1"/>
            <a:r>
              <a:rPr lang="en-US" sz="2000" dirty="0">
                <a:solidFill>
                  <a:srgbClr val="0175FF"/>
                </a:solidFill>
              </a:rPr>
              <a:t>⚙️ </a:t>
            </a:r>
            <a:r>
              <a:rPr lang="en-US" sz="2000" b="1" dirty="0">
                <a:solidFill>
                  <a:srgbClr val="0175FF"/>
                </a:solidFill>
              </a:rPr>
              <a:t>Optimize queries</a:t>
            </a:r>
            <a:r>
              <a:rPr lang="en-US" sz="2000" dirty="0">
                <a:solidFill>
                  <a:srgbClr val="0175FF"/>
                </a:solidFill>
              </a:rPr>
              <a:t> before running</a:t>
            </a:r>
          </a:p>
          <a:p>
            <a:pPr lvl="1"/>
            <a:endParaRPr lang="en-US" sz="2000" dirty="0">
              <a:solidFill>
                <a:srgbClr val="0175FF"/>
              </a:solidFill>
            </a:endParaRPr>
          </a:p>
          <a:p>
            <a:pPr lvl="1"/>
            <a:r>
              <a:rPr lang="en-US" sz="2000" dirty="0">
                <a:solidFill>
                  <a:srgbClr val="0175FF"/>
                </a:solidFill>
              </a:rPr>
              <a:t>💾 Handle </a:t>
            </a:r>
            <a:r>
              <a:rPr lang="en-US" sz="2000" b="1" dirty="0">
                <a:solidFill>
                  <a:srgbClr val="0175FF"/>
                </a:solidFill>
              </a:rPr>
              <a:t>data larger than RAM</a:t>
            </a:r>
            <a:r>
              <a:rPr lang="en-US" sz="2000" dirty="0">
                <a:solidFill>
                  <a:srgbClr val="0175FF"/>
                </a:solidFill>
              </a:rPr>
              <a:t>,</a:t>
            </a:r>
          </a:p>
          <a:p>
            <a:pPr lvl="1"/>
            <a:endParaRPr lang="en-US" sz="2000" dirty="0">
              <a:solidFill>
                <a:srgbClr val="0175FF"/>
              </a:solidFill>
            </a:endParaRPr>
          </a:p>
          <a:p>
            <a:pPr lvl="1"/>
            <a:r>
              <a:rPr lang="en-US" sz="2000" dirty="0">
                <a:solidFill>
                  <a:srgbClr val="0175FF"/>
                </a:solidFill>
              </a:rPr>
              <a:t>🧹 Simplify </a:t>
            </a:r>
            <a:r>
              <a:rPr lang="en-US" sz="2000" b="1" dirty="0">
                <a:solidFill>
                  <a:srgbClr val="0175FF"/>
                </a:solidFill>
              </a:rPr>
              <a:t>data cleaning and transformation</a:t>
            </a:r>
            <a:endParaRPr lang="en-US" sz="2000" dirty="0">
              <a:solidFill>
                <a:srgbClr val="0175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4DFD7-F36C-ECD0-D058-F4745B7808BF}"/>
              </a:ext>
            </a:extLst>
          </p:cNvPr>
          <p:cNvSpPr txBox="1"/>
          <p:nvPr/>
        </p:nvSpPr>
        <p:spPr>
          <a:xfrm>
            <a:off x="6096000" y="1421873"/>
            <a:ext cx="553452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175FF"/>
                </a:solidFill>
              </a:rPr>
              <a:t>How it’s used today:</a:t>
            </a:r>
          </a:p>
          <a:p>
            <a:endParaRPr lang="en-US" sz="2000" dirty="0">
              <a:solidFill>
                <a:srgbClr val="0175FF"/>
              </a:solidFill>
            </a:endParaRPr>
          </a:p>
          <a:p>
            <a:r>
              <a:rPr lang="en-US" sz="2000" dirty="0">
                <a:solidFill>
                  <a:srgbClr val="0175FF"/>
                </a:solidFill>
              </a:rPr>
              <a:t>📊 </a:t>
            </a:r>
            <a:r>
              <a:rPr lang="en-US" sz="2000" b="1" dirty="0">
                <a:solidFill>
                  <a:srgbClr val="0175FF"/>
                </a:solidFill>
              </a:rPr>
              <a:t>Data analytics &amp; aggregation</a:t>
            </a:r>
            <a:r>
              <a:rPr lang="en-US" sz="2000" dirty="0">
                <a:solidFill>
                  <a:srgbClr val="0175FF"/>
                </a:solidFill>
              </a:rPr>
              <a:t> for big CSVs or Parquet files.</a:t>
            </a:r>
          </a:p>
          <a:p>
            <a:endParaRPr lang="en-US" sz="2000" dirty="0">
              <a:solidFill>
                <a:srgbClr val="0175FF"/>
              </a:solidFill>
            </a:endParaRPr>
          </a:p>
          <a:p>
            <a:r>
              <a:rPr lang="en-US" sz="2000" dirty="0">
                <a:solidFill>
                  <a:srgbClr val="0175FF"/>
                </a:solidFill>
              </a:rPr>
              <a:t>🧼 </a:t>
            </a:r>
            <a:r>
              <a:rPr lang="en-US" sz="2000" b="1" dirty="0">
                <a:solidFill>
                  <a:srgbClr val="0175FF"/>
                </a:solidFill>
              </a:rPr>
              <a:t>Preprocessing for machine learning pipelines.</a:t>
            </a:r>
          </a:p>
          <a:p>
            <a:endParaRPr lang="en-US" sz="2000" dirty="0">
              <a:solidFill>
                <a:srgbClr val="0175FF"/>
              </a:solidFill>
            </a:endParaRPr>
          </a:p>
          <a:p>
            <a:r>
              <a:rPr lang="en-US" sz="2000" dirty="0">
                <a:solidFill>
                  <a:srgbClr val="0175FF"/>
                </a:solidFill>
              </a:rPr>
              <a:t>⚙️ </a:t>
            </a:r>
            <a:r>
              <a:rPr lang="en-US" sz="2000" b="1" dirty="0">
                <a:solidFill>
                  <a:srgbClr val="0175FF"/>
                </a:solidFill>
              </a:rPr>
              <a:t>ETL workflows</a:t>
            </a:r>
            <a:r>
              <a:rPr lang="en-US" sz="2000" dirty="0">
                <a:solidFill>
                  <a:srgbClr val="0175FF"/>
                </a:solidFill>
              </a:rPr>
              <a:t> combining different data sources.</a:t>
            </a:r>
          </a:p>
          <a:p>
            <a:endParaRPr lang="en-US" sz="2000" dirty="0">
              <a:solidFill>
                <a:srgbClr val="0175FF"/>
              </a:solidFill>
            </a:endParaRPr>
          </a:p>
          <a:p>
            <a:r>
              <a:rPr lang="en-US" sz="2000" dirty="0">
                <a:solidFill>
                  <a:srgbClr val="0175FF"/>
                </a:solidFill>
              </a:rPr>
              <a:t>🌎 </a:t>
            </a:r>
            <a:r>
              <a:rPr lang="en-US" sz="2000" b="1" dirty="0">
                <a:solidFill>
                  <a:srgbClr val="0175FF"/>
                </a:solidFill>
              </a:rPr>
              <a:t>Log, sensor, and public data analysis</a:t>
            </a:r>
            <a:r>
              <a:rPr lang="en-US" sz="2000" dirty="0">
                <a:solidFill>
                  <a:srgbClr val="0175FF"/>
                </a:solidFill>
              </a:rPr>
              <a:t> (like the WIC-PC dataset).</a:t>
            </a:r>
          </a:p>
          <a:p>
            <a:endParaRPr lang="en-US" sz="2000" dirty="0">
              <a:solidFill>
                <a:srgbClr val="0175FF"/>
              </a:solidFill>
            </a:endParaRPr>
          </a:p>
          <a:p>
            <a:r>
              <a:rPr lang="en-US" sz="2000" dirty="0">
                <a:solidFill>
                  <a:srgbClr val="0175FF"/>
                </a:solidFill>
              </a:rPr>
              <a:t>🗺️ </a:t>
            </a:r>
            <a:r>
              <a:rPr lang="en-US" sz="2000" b="1" dirty="0">
                <a:solidFill>
                  <a:srgbClr val="0175FF"/>
                </a:solidFill>
              </a:rPr>
              <a:t>Time series &amp; geospatial analytics.</a:t>
            </a:r>
            <a:endParaRPr lang="en-US" sz="2000" dirty="0">
              <a:solidFill>
                <a:srgbClr val="0175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AB690C-E0B1-F463-F2CF-E35C12D497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22"/>
          <a:stretch/>
        </p:blipFill>
        <p:spPr>
          <a:xfrm>
            <a:off x="11335586" y="4701488"/>
            <a:ext cx="858756" cy="215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88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BA8CA-19A5-95E5-1C56-36EF710DB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5904A4-BF0B-E81B-04A4-0331E8FC55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719365-AF1A-5546-A7F0-1D97888CDF19}"/>
              </a:ext>
            </a:extLst>
          </p:cNvPr>
          <p:cNvCxnSpPr/>
          <p:nvPr/>
        </p:nvCxnSpPr>
        <p:spPr>
          <a:xfrm>
            <a:off x="265043" y="1126435"/>
            <a:ext cx="10455966" cy="0"/>
          </a:xfrm>
          <a:prstGeom prst="line">
            <a:avLst/>
          </a:prstGeom>
          <a:ln>
            <a:solidFill>
              <a:srgbClr val="01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3128B84-1475-0158-CA3F-691342F116B3}"/>
              </a:ext>
            </a:extLst>
          </p:cNvPr>
          <p:cNvSpPr txBox="1"/>
          <p:nvPr/>
        </p:nvSpPr>
        <p:spPr>
          <a:xfrm>
            <a:off x="265043" y="295438"/>
            <a:ext cx="95846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175FF"/>
                </a:solidFill>
                <a:latin typeface="Montserrat" pitchFamily="2" charset="77"/>
              </a:rPr>
              <a:t>Polars versus Pandas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4F4572-CD9D-16F6-402A-5D21D04802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495135"/>
              </p:ext>
            </p:extLst>
          </p:nvPr>
        </p:nvGraphicFramePr>
        <p:xfrm>
          <a:off x="1803527" y="1371923"/>
          <a:ext cx="8584946" cy="470503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574546">
                  <a:extLst>
                    <a:ext uri="{9D8B030D-6E8A-4147-A177-3AD203B41FA5}">
                      <a16:colId xmlns:a16="http://schemas.microsoft.com/office/drawing/2014/main" val="894595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684917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17753716"/>
                    </a:ext>
                  </a:extLst>
                </a:gridCol>
              </a:tblGrid>
              <a:tr h="47050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Aspect</a:t>
                      </a:r>
                      <a:endParaRPr lang="en-US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Pandas</a:t>
                      </a:r>
                      <a:endParaRPr lang="en-US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Polars</a:t>
                      </a:r>
                      <a:endParaRPr lang="en-US" dirty="0">
                        <a:solidFill>
                          <a:srgbClr val="FFC000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802394"/>
                  </a:ext>
                </a:extLst>
              </a:tr>
              <a:tr h="47050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Language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175FF"/>
                          </a:solidFill>
                        </a:rPr>
                        <a:t>Python (C backend)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175FF"/>
                          </a:solidFill>
                        </a:rPr>
                        <a:t>Rust (faster, safer)</a:t>
                      </a:r>
                    </a:p>
                  </a:txBody>
                  <a:tcPr anchor="ctr">
                    <a:solidFill>
                      <a:srgbClr val="0075FF">
                        <a:alpha val="2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112900"/>
                  </a:ext>
                </a:extLst>
              </a:tr>
              <a:tr h="47050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Execution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175FF"/>
                          </a:solidFill>
                        </a:rPr>
                        <a:t>Single-threaded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175FF"/>
                          </a:solidFill>
                        </a:rPr>
                        <a:t>Multi-threaded (uses all cores)</a:t>
                      </a:r>
                    </a:p>
                  </a:txBody>
                  <a:tcPr anchor="ctr">
                    <a:solidFill>
                      <a:srgbClr val="0075FF">
                        <a:alpha val="2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483502"/>
                  </a:ext>
                </a:extLst>
              </a:tr>
              <a:tr h="47050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Evaluation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175FF"/>
                          </a:solidFill>
                        </a:rPr>
                        <a:t>Eager (runs line by 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175FF"/>
                          </a:solidFill>
                        </a:rPr>
                        <a:t>Lazy (optimizes before running)</a:t>
                      </a:r>
                    </a:p>
                  </a:txBody>
                  <a:tcPr anchor="ctr">
                    <a:solidFill>
                      <a:srgbClr val="0075FF">
                        <a:alpha val="2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922669"/>
                  </a:ext>
                </a:extLst>
              </a:tr>
              <a:tr h="47050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Performance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175FF"/>
                          </a:solidFill>
                        </a:rPr>
                        <a:t>Slower on big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175FF"/>
                          </a:solidFill>
                        </a:rPr>
                        <a:t>3–10× faster</a:t>
                      </a:r>
                    </a:p>
                  </a:txBody>
                  <a:tcPr anchor="ctr">
                    <a:solidFill>
                      <a:srgbClr val="0075FF">
                        <a:alpha val="2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239523"/>
                  </a:ext>
                </a:extLst>
              </a:tr>
              <a:tr h="47050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Memory use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175FF"/>
                          </a:solidFill>
                        </a:rPr>
                        <a:t>Higher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175FF"/>
                          </a:solidFill>
                        </a:rPr>
                        <a:t>More efficient</a:t>
                      </a:r>
                    </a:p>
                  </a:txBody>
                  <a:tcPr anchor="ctr">
                    <a:solidFill>
                      <a:srgbClr val="0075FF">
                        <a:alpha val="2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124780"/>
                  </a:ext>
                </a:extLst>
              </a:tr>
              <a:tr h="47050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Data model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175FF"/>
                          </a:solidFill>
                        </a:rPr>
                        <a:t>Row-based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175FF"/>
                          </a:solidFill>
                        </a:rPr>
                        <a:t>Columnar (better for analytics)</a:t>
                      </a:r>
                    </a:p>
                  </a:txBody>
                  <a:tcPr anchor="ctr">
                    <a:solidFill>
                      <a:srgbClr val="0075FF">
                        <a:alpha val="2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569996"/>
                  </a:ext>
                </a:extLst>
              </a:tr>
              <a:tr h="47050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Scalability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175FF"/>
                          </a:solidFill>
                        </a:rPr>
                        <a:t>Limited to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175FF"/>
                          </a:solidFill>
                        </a:rPr>
                        <a:t>Handles larger-than-RAM data</a:t>
                      </a:r>
                    </a:p>
                  </a:txBody>
                  <a:tcPr anchor="ctr">
                    <a:solidFill>
                      <a:srgbClr val="0075FF">
                        <a:alpha val="2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255531"/>
                  </a:ext>
                </a:extLst>
              </a:tr>
              <a:tr h="47050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Syntax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175FF"/>
                          </a:solidFill>
                        </a:rPr>
                        <a:t>Very familiar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175FF"/>
                          </a:solidFill>
                        </a:rPr>
                        <a:t>Similar + expressions</a:t>
                      </a:r>
                    </a:p>
                  </a:txBody>
                  <a:tcPr anchor="ctr">
                    <a:solidFill>
                      <a:srgbClr val="0075FF">
                        <a:alpha val="2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714147"/>
                  </a:ext>
                </a:extLst>
              </a:tr>
              <a:tr h="47050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Best for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0175FF"/>
                          </a:solidFill>
                        </a:rPr>
                        <a:t>Small to medium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175FF"/>
                          </a:solidFill>
                        </a:rPr>
                        <a:t>Large, complex data &amp; pipelines</a:t>
                      </a:r>
                    </a:p>
                  </a:txBody>
                  <a:tcPr anchor="ctr">
                    <a:solidFill>
                      <a:srgbClr val="0075FF">
                        <a:alpha val="2196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54926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D9C4FCF-D9AE-FE39-58C1-62CD546258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22"/>
          <a:stretch/>
        </p:blipFill>
        <p:spPr>
          <a:xfrm>
            <a:off x="11335586" y="4701488"/>
            <a:ext cx="858756" cy="215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90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9468C-A4BF-6D76-CFEE-099ACC981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F31CC3-AF29-7068-37DE-E36DAB8AAB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EB60B4-AACB-3E29-8736-232C52D9B50B}"/>
              </a:ext>
            </a:extLst>
          </p:cNvPr>
          <p:cNvCxnSpPr/>
          <p:nvPr/>
        </p:nvCxnSpPr>
        <p:spPr>
          <a:xfrm>
            <a:off x="265043" y="1126435"/>
            <a:ext cx="10455966" cy="0"/>
          </a:xfrm>
          <a:prstGeom prst="line">
            <a:avLst/>
          </a:prstGeom>
          <a:ln>
            <a:solidFill>
              <a:srgbClr val="01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6EE12AF-39B0-5404-6202-56745308DDFC}"/>
              </a:ext>
            </a:extLst>
          </p:cNvPr>
          <p:cNvSpPr txBox="1"/>
          <p:nvPr/>
        </p:nvSpPr>
        <p:spPr>
          <a:xfrm>
            <a:off x="265043" y="295438"/>
            <a:ext cx="95846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175FF"/>
                </a:solidFill>
                <a:latin typeface="Montserrat" pitchFamily="2" charset="77"/>
              </a:rPr>
              <a:t>Takeaways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4F9B1-7793-2BDE-DB51-C43D8C2E74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22"/>
          <a:stretch/>
        </p:blipFill>
        <p:spPr>
          <a:xfrm>
            <a:off x="11335586" y="4701488"/>
            <a:ext cx="858756" cy="21565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72E9A9-1611-9691-BBA5-2D111DC292E7}"/>
              </a:ext>
            </a:extLst>
          </p:cNvPr>
          <p:cNvSpPr txBox="1"/>
          <p:nvPr/>
        </p:nvSpPr>
        <p:spPr>
          <a:xfrm>
            <a:off x="514348" y="1957432"/>
            <a:ext cx="11505199" cy="2237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175FF"/>
                </a:solidFill>
              </a:rPr>
              <a:t>Polars is ideal for large datasets or performance-critical tasks.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175FF"/>
                </a:solidFill>
              </a:rPr>
              <a:t>Pandas is still better for smaller, exploratory work.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175FF"/>
                </a:solidFill>
              </a:rPr>
              <a:t>Both libraries can coexist depending on project scale.</a:t>
            </a:r>
          </a:p>
        </p:txBody>
      </p:sp>
    </p:spTree>
    <p:extLst>
      <p:ext uri="{BB962C8B-B14F-4D97-AF65-F5344CB8AC3E}">
        <p14:creationId xmlns:p14="http://schemas.microsoft.com/office/powerpoint/2010/main" val="2166999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EFF4-D5C1-3076-A8DB-711560388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E056A9-9580-7DF9-63CD-6C4FAF9475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542C3C-275F-7DC5-E84E-E891A5E81D2D}"/>
              </a:ext>
            </a:extLst>
          </p:cNvPr>
          <p:cNvSpPr/>
          <p:nvPr/>
        </p:nvSpPr>
        <p:spPr>
          <a:xfrm>
            <a:off x="621236" y="2763363"/>
            <a:ext cx="5164055" cy="1008493"/>
          </a:xfrm>
          <a:prstGeom prst="roundRect">
            <a:avLst/>
          </a:prstGeom>
          <a:solidFill>
            <a:srgbClr val="007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2CBFA9-D087-F23E-351C-2DF7DD25466B}"/>
              </a:ext>
            </a:extLst>
          </p:cNvPr>
          <p:cNvCxnSpPr/>
          <p:nvPr/>
        </p:nvCxnSpPr>
        <p:spPr>
          <a:xfrm>
            <a:off x="265043" y="1126435"/>
            <a:ext cx="10455966" cy="0"/>
          </a:xfrm>
          <a:prstGeom prst="line">
            <a:avLst/>
          </a:prstGeom>
          <a:ln>
            <a:solidFill>
              <a:srgbClr val="01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8B54EA-8CD0-8DC8-39BB-BB095E6B00B5}"/>
              </a:ext>
            </a:extLst>
          </p:cNvPr>
          <p:cNvSpPr txBox="1"/>
          <p:nvPr/>
        </p:nvSpPr>
        <p:spPr>
          <a:xfrm>
            <a:off x="265043" y="295438"/>
            <a:ext cx="95846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175FF"/>
                </a:solidFill>
                <a:latin typeface="Montserrat" pitchFamily="2" charset="77"/>
              </a:rPr>
              <a:t>Loading and inspecting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3E1C31-2B60-39B1-2925-49F5548C8B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22"/>
          <a:stretch/>
        </p:blipFill>
        <p:spPr>
          <a:xfrm>
            <a:off x="11335586" y="4701488"/>
            <a:ext cx="858756" cy="21565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952109-BA5D-9657-D060-0C20CD7A4AE3}"/>
              </a:ext>
            </a:extLst>
          </p:cNvPr>
          <p:cNvSpPr txBox="1"/>
          <p:nvPr/>
        </p:nvSpPr>
        <p:spPr>
          <a:xfrm>
            <a:off x="704955" y="2795741"/>
            <a:ext cx="47915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Quick look at the dataset using Polars — a high-performance </a:t>
            </a:r>
            <a:r>
              <a:rPr lang="en-US" dirty="0" err="1">
                <a:solidFill>
                  <a:schemeClr val="bg1"/>
                </a:solidFill>
              </a:rPr>
              <a:t>DataFrame</a:t>
            </a:r>
            <a:r>
              <a:rPr lang="en-US" dirty="0">
                <a:solidFill>
                  <a:schemeClr val="bg1"/>
                </a:solidFill>
              </a:rPr>
              <a:t> library built on Apache Arrow.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C2FAD1C-816F-45C3-C84A-02E58F374C03}"/>
              </a:ext>
            </a:extLst>
          </p:cNvPr>
          <p:cNvSpPr/>
          <p:nvPr/>
        </p:nvSpPr>
        <p:spPr>
          <a:xfrm>
            <a:off x="6495905" y="2763362"/>
            <a:ext cx="5164055" cy="1008493"/>
          </a:xfrm>
          <a:prstGeom prst="roundRect">
            <a:avLst/>
          </a:prstGeom>
          <a:solidFill>
            <a:srgbClr val="007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87082-D25C-FA4A-833B-5DC6F0744A4C}"/>
              </a:ext>
            </a:extLst>
          </p:cNvPr>
          <p:cNvSpPr txBox="1"/>
          <p:nvPr/>
        </p:nvSpPr>
        <p:spPr>
          <a:xfrm>
            <a:off x="6673809" y="2805943"/>
            <a:ext cx="48082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import polars as pl</a:t>
            </a:r>
          </a:p>
          <a:p>
            <a:r>
              <a:rPr lang="en-US" dirty="0" err="1">
                <a:solidFill>
                  <a:schemeClr val="bg1"/>
                </a:solidFill>
              </a:rPr>
              <a:t>df_pl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pl.read_csv</a:t>
            </a:r>
            <a:r>
              <a:rPr lang="en-US" dirty="0">
                <a:solidFill>
                  <a:schemeClr val="bg1"/>
                </a:solidFill>
              </a:rPr>
              <a:t>(”</a:t>
            </a:r>
            <a:r>
              <a:rPr lang="en-US" dirty="0" err="1">
                <a:solidFill>
                  <a:schemeClr val="bg1"/>
                </a:solidFill>
              </a:rPr>
              <a:t>Name_of_you_dataset</a:t>
            </a:r>
            <a:r>
              <a:rPr lang="en-US" dirty="0">
                <a:solidFill>
                  <a:schemeClr val="bg1"/>
                </a:solidFill>
              </a:rPr>
              <a:t>")</a:t>
            </a:r>
          </a:p>
          <a:p>
            <a:r>
              <a:rPr lang="en-US" dirty="0" err="1">
                <a:solidFill>
                  <a:schemeClr val="bg1"/>
                </a:solidFill>
              </a:rPr>
              <a:t>df_pl.head</a:t>
            </a:r>
            <a:r>
              <a:rPr lang="en-US" dirty="0">
                <a:solidFill>
                  <a:srgbClr val="0075FF"/>
                </a:solidFill>
              </a:rPr>
              <a:t>(3)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AC2A9AFD-9A85-67CB-F012-8B159DCA23ED}"/>
              </a:ext>
            </a:extLst>
          </p:cNvPr>
          <p:cNvSpPr/>
          <p:nvPr/>
        </p:nvSpPr>
        <p:spPr>
          <a:xfrm>
            <a:off x="5953733" y="3082944"/>
            <a:ext cx="445168" cy="346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519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63D-BF77-94B1-2727-1BDD412C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AB1792-B3F5-38C9-F8F2-3563D36040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23B19CA-9F92-F74D-54D5-C82FFFE479C3}"/>
              </a:ext>
            </a:extLst>
          </p:cNvPr>
          <p:cNvSpPr/>
          <p:nvPr/>
        </p:nvSpPr>
        <p:spPr>
          <a:xfrm>
            <a:off x="621236" y="2763363"/>
            <a:ext cx="5164055" cy="1754319"/>
          </a:xfrm>
          <a:prstGeom prst="roundRect">
            <a:avLst/>
          </a:prstGeom>
          <a:solidFill>
            <a:srgbClr val="007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AE32892-DA02-BA18-66A7-A7B6E2ABFF91}"/>
              </a:ext>
            </a:extLst>
          </p:cNvPr>
          <p:cNvCxnSpPr/>
          <p:nvPr/>
        </p:nvCxnSpPr>
        <p:spPr>
          <a:xfrm>
            <a:off x="265043" y="1126435"/>
            <a:ext cx="10455966" cy="0"/>
          </a:xfrm>
          <a:prstGeom prst="line">
            <a:avLst/>
          </a:prstGeom>
          <a:ln>
            <a:solidFill>
              <a:srgbClr val="01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7753E1C-89DD-6FDA-C1BC-2A1DF4BFE21A}"/>
              </a:ext>
            </a:extLst>
          </p:cNvPr>
          <p:cNvSpPr txBox="1"/>
          <p:nvPr/>
        </p:nvSpPr>
        <p:spPr>
          <a:xfrm>
            <a:off x="265043" y="295438"/>
            <a:ext cx="95846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175FF"/>
                </a:solidFill>
                <a:latin typeface="Montserrat" pitchFamily="2" charset="77"/>
              </a:rPr>
              <a:t>Filtering &amp; selecting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14DFC4-5731-5804-C639-E63ECCABFA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22"/>
          <a:stretch/>
        </p:blipFill>
        <p:spPr>
          <a:xfrm>
            <a:off x="11335586" y="4701488"/>
            <a:ext cx="858756" cy="21565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4048A1-9E43-FE6D-F743-94708329C467}"/>
              </a:ext>
            </a:extLst>
          </p:cNvPr>
          <p:cNvSpPr txBox="1"/>
          <p:nvPr/>
        </p:nvSpPr>
        <p:spPr>
          <a:xfrm>
            <a:off x="701448" y="2938977"/>
            <a:ext cx="47915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the case of the dataset we used, filtering the data to include only 2020 and female participants, keeping relevant columns for analysis.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A2AADD2-EE59-EBDA-C110-3F3244E809E0}"/>
              </a:ext>
            </a:extLst>
          </p:cNvPr>
          <p:cNvSpPr/>
          <p:nvPr/>
        </p:nvSpPr>
        <p:spPr>
          <a:xfrm>
            <a:off x="6495905" y="2763362"/>
            <a:ext cx="5164055" cy="1754325"/>
          </a:xfrm>
          <a:prstGeom prst="roundRect">
            <a:avLst/>
          </a:prstGeom>
          <a:solidFill>
            <a:srgbClr val="007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3F785-4D64-DE48-8765-05DAD17FCD8C}"/>
              </a:ext>
            </a:extLst>
          </p:cNvPr>
          <p:cNvSpPr txBox="1"/>
          <p:nvPr/>
        </p:nvSpPr>
        <p:spPr>
          <a:xfrm>
            <a:off x="6673809" y="2805943"/>
            <a:ext cx="48082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df_pl_filtered</a:t>
            </a:r>
            <a:r>
              <a:rPr lang="en-US" dirty="0">
                <a:solidFill>
                  <a:schemeClr val="bg1"/>
                </a:solidFill>
              </a:rPr>
              <a:t> = (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df_pl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.filter(</a:t>
            </a:r>
            <a:r>
              <a:rPr lang="en-US" dirty="0" err="1">
                <a:solidFill>
                  <a:schemeClr val="bg1"/>
                </a:solidFill>
              </a:rPr>
              <a:t>pl.col</a:t>
            </a:r>
            <a:r>
              <a:rPr lang="en-US" dirty="0">
                <a:solidFill>
                  <a:schemeClr val="bg1"/>
                </a:solidFill>
              </a:rPr>
              <a:t>("</a:t>
            </a:r>
            <a:r>
              <a:rPr lang="en-US" dirty="0" err="1">
                <a:solidFill>
                  <a:schemeClr val="bg1"/>
                </a:solidFill>
              </a:rPr>
              <a:t>YearEnd</a:t>
            </a:r>
            <a:r>
              <a:rPr lang="en-US" dirty="0">
                <a:solidFill>
                  <a:schemeClr val="bg1"/>
                </a:solidFill>
              </a:rPr>
              <a:t>") == 2020)</a:t>
            </a:r>
          </a:p>
          <a:p>
            <a:r>
              <a:rPr lang="en-US" dirty="0">
                <a:solidFill>
                  <a:schemeClr val="bg1"/>
                </a:solidFill>
              </a:rPr>
              <a:t>    .filter(</a:t>
            </a:r>
            <a:r>
              <a:rPr lang="en-US" dirty="0" err="1">
                <a:solidFill>
                  <a:schemeClr val="bg1"/>
                </a:solidFill>
              </a:rPr>
              <a:t>pl.col</a:t>
            </a:r>
            <a:r>
              <a:rPr lang="en-US" dirty="0">
                <a:solidFill>
                  <a:schemeClr val="bg1"/>
                </a:solidFill>
              </a:rPr>
              <a:t>("Stratification1") == "Female")</a:t>
            </a:r>
          </a:p>
          <a:p>
            <a:r>
              <a:rPr lang="en-US" dirty="0">
                <a:solidFill>
                  <a:schemeClr val="bg1"/>
                </a:solidFill>
              </a:rPr>
              <a:t>    .select(["</a:t>
            </a:r>
            <a:r>
              <a:rPr lang="en-US" dirty="0" err="1">
                <a:solidFill>
                  <a:schemeClr val="bg1"/>
                </a:solidFill>
              </a:rPr>
              <a:t>LocationAbbr</a:t>
            </a:r>
            <a:r>
              <a:rPr lang="en-US" dirty="0">
                <a:solidFill>
                  <a:schemeClr val="bg1"/>
                </a:solidFill>
              </a:rPr>
              <a:t>", "</a:t>
            </a:r>
            <a:r>
              <a:rPr lang="en-US" dirty="0" err="1">
                <a:solidFill>
                  <a:schemeClr val="bg1"/>
                </a:solidFill>
              </a:rPr>
              <a:t>Data_Value</a:t>
            </a:r>
            <a:r>
              <a:rPr lang="en-US" dirty="0">
                <a:solidFill>
                  <a:schemeClr val="bg1"/>
                </a:solidFill>
              </a:rPr>
              <a:t>"])</a:t>
            </a:r>
          </a:p>
          <a:p>
            <a:r>
              <a:rPr lang="en-US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rgbClr val="0075FF"/>
              </a:solidFill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FDC60CEF-4FFE-59E8-24B4-D71AA0B1B4F5}"/>
              </a:ext>
            </a:extLst>
          </p:cNvPr>
          <p:cNvSpPr/>
          <p:nvPr/>
        </p:nvSpPr>
        <p:spPr>
          <a:xfrm>
            <a:off x="5953733" y="3082944"/>
            <a:ext cx="445168" cy="346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05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3E97A-2524-5591-3EEB-3118D181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3048EF-30A2-AB7B-E20E-E9E8405AA15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BADF9FB-546E-B36B-D207-3CC604E1F412}"/>
              </a:ext>
            </a:extLst>
          </p:cNvPr>
          <p:cNvSpPr/>
          <p:nvPr/>
        </p:nvSpPr>
        <p:spPr>
          <a:xfrm>
            <a:off x="621236" y="2763363"/>
            <a:ext cx="5164055" cy="2031324"/>
          </a:xfrm>
          <a:prstGeom prst="roundRect">
            <a:avLst/>
          </a:prstGeom>
          <a:solidFill>
            <a:srgbClr val="007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B9405BC-A458-B6EF-9C8F-58E8054BEA7C}"/>
              </a:ext>
            </a:extLst>
          </p:cNvPr>
          <p:cNvCxnSpPr/>
          <p:nvPr/>
        </p:nvCxnSpPr>
        <p:spPr>
          <a:xfrm>
            <a:off x="265043" y="1126435"/>
            <a:ext cx="10455966" cy="0"/>
          </a:xfrm>
          <a:prstGeom prst="line">
            <a:avLst/>
          </a:prstGeom>
          <a:ln>
            <a:solidFill>
              <a:srgbClr val="01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02595F7-4875-FE3D-2BBE-006B010696F5}"/>
              </a:ext>
            </a:extLst>
          </p:cNvPr>
          <p:cNvSpPr txBox="1"/>
          <p:nvPr/>
        </p:nvSpPr>
        <p:spPr>
          <a:xfrm>
            <a:off x="265043" y="295438"/>
            <a:ext cx="95846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175FF"/>
                </a:solidFill>
                <a:latin typeface="Montserrat" pitchFamily="2" charset="77"/>
              </a:rPr>
              <a:t>Grouping &amp; aggregating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157B4B-1122-209F-29E3-0D84FE1A99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22"/>
          <a:stretch/>
        </p:blipFill>
        <p:spPr>
          <a:xfrm>
            <a:off x="11335586" y="4701488"/>
            <a:ext cx="858756" cy="21565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26293C-2FF2-B013-9E71-4156364D47BC}"/>
              </a:ext>
            </a:extLst>
          </p:cNvPr>
          <p:cNvSpPr txBox="1"/>
          <p:nvPr/>
        </p:nvSpPr>
        <p:spPr>
          <a:xfrm>
            <a:off x="701448" y="2938977"/>
            <a:ext cx="47915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the case of the dataset we used, with this code we can aggregating by state: calculating the average overweight percentage among female toddlers.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CE6DAFD-3F09-0D88-8AB6-35AE97913A14}"/>
              </a:ext>
            </a:extLst>
          </p:cNvPr>
          <p:cNvSpPr/>
          <p:nvPr/>
        </p:nvSpPr>
        <p:spPr>
          <a:xfrm>
            <a:off x="6495905" y="2763362"/>
            <a:ext cx="5164055" cy="2031321"/>
          </a:xfrm>
          <a:prstGeom prst="roundRect">
            <a:avLst/>
          </a:prstGeom>
          <a:solidFill>
            <a:srgbClr val="007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49DFD6-1038-F8CD-368D-C88EB4A0B077}"/>
              </a:ext>
            </a:extLst>
          </p:cNvPr>
          <p:cNvSpPr txBox="1"/>
          <p:nvPr/>
        </p:nvSpPr>
        <p:spPr>
          <a:xfrm>
            <a:off x="6673809" y="2805943"/>
            <a:ext cx="48969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pl_state_avg</a:t>
            </a:r>
            <a:r>
              <a:rPr lang="en-US" dirty="0">
                <a:solidFill>
                  <a:schemeClr val="bg1"/>
                </a:solidFill>
              </a:rPr>
              <a:t> = (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df_pl_filtered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.</a:t>
            </a:r>
            <a:r>
              <a:rPr lang="en-US" dirty="0" err="1">
                <a:solidFill>
                  <a:schemeClr val="bg1"/>
                </a:solidFill>
              </a:rPr>
              <a:t>group_by</a:t>
            </a:r>
            <a:r>
              <a:rPr lang="en-US" dirty="0">
                <a:solidFill>
                  <a:schemeClr val="bg1"/>
                </a:solidFill>
              </a:rPr>
              <a:t>("</a:t>
            </a:r>
            <a:r>
              <a:rPr lang="en-US" dirty="0" err="1">
                <a:solidFill>
                  <a:schemeClr val="bg1"/>
                </a:solidFill>
              </a:rPr>
              <a:t>LocationAbbr</a:t>
            </a:r>
            <a:r>
              <a:rPr lang="en-US" dirty="0">
                <a:solidFill>
                  <a:schemeClr val="bg1"/>
                </a:solidFill>
              </a:rPr>
              <a:t>")</a:t>
            </a:r>
          </a:p>
          <a:p>
            <a:r>
              <a:rPr lang="en-US" dirty="0">
                <a:solidFill>
                  <a:schemeClr val="bg1"/>
                </a:solidFill>
              </a:rPr>
              <a:t>    .</a:t>
            </a:r>
            <a:r>
              <a:rPr lang="en-US" dirty="0" err="1">
                <a:solidFill>
                  <a:schemeClr val="bg1"/>
                </a:solidFill>
              </a:rPr>
              <a:t>agg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pl.col</a:t>
            </a:r>
            <a:r>
              <a:rPr lang="en-US" dirty="0">
                <a:solidFill>
                  <a:schemeClr val="bg1"/>
                </a:solidFill>
              </a:rPr>
              <a:t>("</a:t>
            </a:r>
            <a:r>
              <a:rPr lang="en-US" dirty="0" err="1">
                <a:solidFill>
                  <a:schemeClr val="bg1"/>
                </a:solidFill>
              </a:rPr>
              <a:t>Data_Value</a:t>
            </a:r>
            <a:r>
              <a:rPr lang="en-US" dirty="0">
                <a:solidFill>
                  <a:schemeClr val="bg1"/>
                </a:solidFill>
              </a:rPr>
              <a:t>").mean().alias("</a:t>
            </a:r>
            <a:r>
              <a:rPr lang="en-US" dirty="0" err="1">
                <a:solidFill>
                  <a:schemeClr val="bg1"/>
                </a:solidFill>
              </a:rPr>
              <a:t>avg_overweight</a:t>
            </a:r>
            <a:r>
              <a:rPr lang="en-US" dirty="0">
                <a:solidFill>
                  <a:schemeClr val="bg1"/>
                </a:solidFill>
              </a:rPr>
              <a:t>"))</a:t>
            </a:r>
          </a:p>
          <a:p>
            <a:r>
              <a:rPr lang="en-US" dirty="0">
                <a:solidFill>
                  <a:schemeClr val="bg1"/>
                </a:solidFill>
              </a:rPr>
              <a:t>)</a:t>
            </a:r>
            <a:endParaRPr lang="en-US" dirty="0">
              <a:solidFill>
                <a:srgbClr val="0075FF"/>
              </a:solidFill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9A8BD2EC-4051-2EA4-8828-340A91E94CA2}"/>
              </a:ext>
            </a:extLst>
          </p:cNvPr>
          <p:cNvSpPr/>
          <p:nvPr/>
        </p:nvSpPr>
        <p:spPr>
          <a:xfrm>
            <a:off x="5953733" y="3082944"/>
            <a:ext cx="445168" cy="346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77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8AB3E-2EC2-1222-83D5-FFA2B746C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29BC1CD-0700-5A30-F19A-42F725F4D4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9A58F75-C2A7-628E-8352-C2C69EDE0259}"/>
              </a:ext>
            </a:extLst>
          </p:cNvPr>
          <p:cNvSpPr/>
          <p:nvPr/>
        </p:nvSpPr>
        <p:spPr>
          <a:xfrm>
            <a:off x="621236" y="2763363"/>
            <a:ext cx="5164055" cy="2031324"/>
          </a:xfrm>
          <a:prstGeom prst="roundRect">
            <a:avLst/>
          </a:prstGeom>
          <a:solidFill>
            <a:srgbClr val="007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4D96F6-5195-4872-ADC2-C281A8365BBD}"/>
              </a:ext>
            </a:extLst>
          </p:cNvPr>
          <p:cNvCxnSpPr/>
          <p:nvPr/>
        </p:nvCxnSpPr>
        <p:spPr>
          <a:xfrm>
            <a:off x="265043" y="1126435"/>
            <a:ext cx="10455966" cy="0"/>
          </a:xfrm>
          <a:prstGeom prst="line">
            <a:avLst/>
          </a:prstGeom>
          <a:ln>
            <a:solidFill>
              <a:srgbClr val="017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42345A3-E710-83D6-FA21-4D1D663DBFBB}"/>
              </a:ext>
            </a:extLst>
          </p:cNvPr>
          <p:cNvSpPr txBox="1"/>
          <p:nvPr/>
        </p:nvSpPr>
        <p:spPr>
          <a:xfrm>
            <a:off x="265043" y="295438"/>
            <a:ext cx="95846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0175FF"/>
                </a:solidFill>
                <a:latin typeface="Montserrat" pitchFamily="2" charset="77"/>
              </a:rPr>
              <a:t>Lazy API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96F98A-07B6-B430-E526-46551173D7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22"/>
          <a:stretch/>
        </p:blipFill>
        <p:spPr>
          <a:xfrm>
            <a:off x="11335586" y="4701488"/>
            <a:ext cx="858756" cy="21565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A71F3F-E369-FD7F-AF9D-6EEA36151BFF}"/>
              </a:ext>
            </a:extLst>
          </p:cNvPr>
          <p:cNvSpPr txBox="1"/>
          <p:nvPr/>
        </p:nvSpPr>
        <p:spPr>
          <a:xfrm>
            <a:off x="701448" y="2938977"/>
            <a:ext cx="47915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Using Polars’ Lazy API — defers computation until .collect() for optimized, parallel execution.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36618A2-82D8-C3FE-1063-DED1253F2E97}"/>
              </a:ext>
            </a:extLst>
          </p:cNvPr>
          <p:cNvSpPr/>
          <p:nvPr/>
        </p:nvSpPr>
        <p:spPr>
          <a:xfrm>
            <a:off x="6495905" y="2763362"/>
            <a:ext cx="5164055" cy="2031321"/>
          </a:xfrm>
          <a:prstGeom prst="roundRect">
            <a:avLst/>
          </a:prstGeom>
          <a:solidFill>
            <a:srgbClr val="007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4C07B-1489-B935-AC2A-DF5048F07DB7}"/>
              </a:ext>
            </a:extLst>
          </p:cNvPr>
          <p:cNvSpPr txBox="1"/>
          <p:nvPr/>
        </p:nvSpPr>
        <p:spPr>
          <a:xfrm>
            <a:off x="6673809" y="2805943"/>
            <a:ext cx="48969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lazy_df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dirty="0" err="1">
                <a:solidFill>
                  <a:schemeClr val="bg1"/>
                </a:solidFill>
              </a:rPr>
              <a:t>df_pl.lazy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r>
              <a:rPr lang="en-US" dirty="0">
                <a:solidFill>
                  <a:schemeClr val="bg1"/>
                </a:solidFill>
              </a:rPr>
              <a:t>result = (</a:t>
            </a: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lazy_df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.filter(</a:t>
            </a:r>
            <a:r>
              <a:rPr lang="en-US" dirty="0" err="1">
                <a:solidFill>
                  <a:schemeClr val="bg1"/>
                </a:solidFill>
              </a:rPr>
              <a:t>pl.col</a:t>
            </a:r>
            <a:r>
              <a:rPr lang="en-US" dirty="0">
                <a:solidFill>
                  <a:schemeClr val="bg1"/>
                </a:solidFill>
              </a:rPr>
              <a:t>("</a:t>
            </a:r>
            <a:r>
              <a:rPr lang="en-US" dirty="0" err="1">
                <a:solidFill>
                  <a:schemeClr val="bg1"/>
                </a:solidFill>
              </a:rPr>
              <a:t>YearEnd</a:t>
            </a:r>
            <a:r>
              <a:rPr lang="en-US" dirty="0">
                <a:solidFill>
                  <a:schemeClr val="bg1"/>
                </a:solidFill>
              </a:rPr>
              <a:t>") == 2020)</a:t>
            </a:r>
          </a:p>
          <a:p>
            <a:r>
              <a:rPr lang="en-US" dirty="0">
                <a:solidFill>
                  <a:schemeClr val="bg1"/>
                </a:solidFill>
              </a:rPr>
              <a:t>    .</a:t>
            </a:r>
            <a:r>
              <a:rPr lang="en-US" dirty="0" err="1">
                <a:solidFill>
                  <a:schemeClr val="bg1"/>
                </a:solidFill>
              </a:rPr>
              <a:t>group_by</a:t>
            </a:r>
            <a:r>
              <a:rPr lang="en-US" dirty="0">
                <a:solidFill>
                  <a:schemeClr val="bg1"/>
                </a:solidFill>
              </a:rPr>
              <a:t>("</a:t>
            </a:r>
            <a:r>
              <a:rPr lang="en-US" dirty="0" err="1">
                <a:solidFill>
                  <a:schemeClr val="bg1"/>
                </a:solidFill>
              </a:rPr>
              <a:t>LocationAbbr</a:t>
            </a:r>
            <a:r>
              <a:rPr lang="en-US" dirty="0">
                <a:solidFill>
                  <a:schemeClr val="bg1"/>
                </a:solidFill>
              </a:rPr>
              <a:t>")</a:t>
            </a:r>
          </a:p>
          <a:p>
            <a:r>
              <a:rPr lang="en-US" dirty="0">
                <a:solidFill>
                  <a:schemeClr val="bg1"/>
                </a:solidFill>
              </a:rPr>
              <a:t>    .</a:t>
            </a:r>
            <a:r>
              <a:rPr lang="en-US" dirty="0" err="1">
                <a:solidFill>
                  <a:schemeClr val="bg1"/>
                </a:solidFill>
              </a:rPr>
              <a:t>agg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pl.col</a:t>
            </a:r>
            <a:r>
              <a:rPr lang="en-US" dirty="0">
                <a:solidFill>
                  <a:schemeClr val="bg1"/>
                </a:solidFill>
              </a:rPr>
              <a:t>("</a:t>
            </a:r>
            <a:r>
              <a:rPr lang="en-US" dirty="0" err="1">
                <a:solidFill>
                  <a:schemeClr val="bg1"/>
                </a:solidFill>
              </a:rPr>
              <a:t>Data_Value</a:t>
            </a:r>
            <a:r>
              <a:rPr lang="en-US" dirty="0">
                <a:solidFill>
                  <a:schemeClr val="bg1"/>
                </a:solidFill>
              </a:rPr>
              <a:t>").mean())</a:t>
            </a:r>
          </a:p>
          <a:p>
            <a:r>
              <a:rPr lang="en-US" dirty="0">
                <a:solidFill>
                  <a:schemeClr val="bg1"/>
                </a:solidFill>
              </a:rPr>
              <a:t>).collect())</a:t>
            </a:r>
            <a:endParaRPr lang="en-US" dirty="0">
              <a:solidFill>
                <a:srgbClr val="0075FF"/>
              </a:solidFill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6776A2F2-7028-0621-BE01-62339C32CE52}"/>
              </a:ext>
            </a:extLst>
          </p:cNvPr>
          <p:cNvSpPr/>
          <p:nvPr/>
        </p:nvSpPr>
        <p:spPr>
          <a:xfrm>
            <a:off x="5953733" y="3082944"/>
            <a:ext cx="445168" cy="346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90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3AEF9-3D50-C5FB-E74B-F5C78902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6E1C14-1A5B-4518-AC42-996808D68F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F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“Exploring Polars: A Fast and Modern </a:t>
            </a:r>
            <a:r>
              <a:rPr lang="en-US" dirty="0" err="1"/>
              <a:t>DataFrame</a:t>
            </a:r>
            <a:r>
              <a:rPr lang="en-US" dirty="0"/>
              <a:t> Library for Python”</a:t>
            </a:r>
          </a:p>
        </p:txBody>
      </p:sp>
      <p:pic>
        <p:nvPicPr>
          <p:cNvPr id="1026" name="Picture 2" descr="Polars — Announcing Polars 1.0">
            <a:extLst>
              <a:ext uri="{FF2B5EF4-FFF2-40B4-BE49-F238E27FC236}">
                <a16:creationId xmlns:a16="http://schemas.microsoft.com/office/drawing/2014/main" id="{789C3485-C9B7-3C1F-F2FC-62F0761D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36" y="0"/>
            <a:ext cx="10168128" cy="525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161405-EFF8-8087-6848-A25974409920}"/>
              </a:ext>
            </a:extLst>
          </p:cNvPr>
          <p:cNvSpPr txBox="1"/>
          <p:nvPr/>
        </p:nvSpPr>
        <p:spPr>
          <a:xfrm>
            <a:off x="0" y="6103947"/>
            <a:ext cx="4627757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0175FF"/>
                </a:solidFill>
                <a:latin typeface="Montserrat" pitchFamily="2" charset="77"/>
              </a:rPr>
              <a:t>Advanced Programming – Midterm</a:t>
            </a:r>
          </a:p>
          <a:p>
            <a:r>
              <a:rPr lang="en-US" sz="1100" dirty="0">
                <a:solidFill>
                  <a:srgbClr val="0175FF"/>
                </a:solidFill>
                <a:latin typeface="Montserrat" pitchFamily="2" charset="77"/>
              </a:rPr>
              <a:t>Maria Jose Zuniga</a:t>
            </a:r>
          </a:p>
          <a:p>
            <a:r>
              <a:rPr lang="en-US" sz="1100" dirty="0">
                <a:solidFill>
                  <a:srgbClr val="0175FF"/>
                </a:solidFill>
                <a:latin typeface="Montserrat" pitchFamily="2" charset="77"/>
              </a:rPr>
              <a:t>Fall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08C2D5-A23B-F9FC-A83F-90D5F509DAFE}"/>
              </a:ext>
            </a:extLst>
          </p:cNvPr>
          <p:cNvSpPr txBox="1"/>
          <p:nvPr/>
        </p:nvSpPr>
        <p:spPr>
          <a:xfrm>
            <a:off x="8599286" y="3818811"/>
            <a:ext cx="2360261" cy="460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0175FF"/>
                </a:solidFill>
                <a:latin typeface="Montserrat" pitchFamily="2" charset="77"/>
              </a:rPr>
              <a:t>Exploring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AAA5E-6F5D-1B3A-A9E8-DD7DA87D77D4}"/>
              </a:ext>
            </a:extLst>
          </p:cNvPr>
          <p:cNvSpPr txBox="1"/>
          <p:nvPr/>
        </p:nvSpPr>
        <p:spPr>
          <a:xfrm>
            <a:off x="8599286" y="5058912"/>
            <a:ext cx="3592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175FF"/>
                </a:solidFill>
                <a:latin typeface="Montserrat" pitchFamily="2" charset="77"/>
              </a:rPr>
              <a:t>A fast and modern Data Frame library for Python</a:t>
            </a:r>
          </a:p>
        </p:txBody>
      </p:sp>
    </p:spTree>
    <p:extLst>
      <p:ext uri="{BB962C8B-B14F-4D97-AF65-F5344CB8AC3E}">
        <p14:creationId xmlns:p14="http://schemas.microsoft.com/office/powerpoint/2010/main" val="3265664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</TotalTime>
  <Words>689</Words>
  <Application>Microsoft Macintosh PowerPoint</Application>
  <PresentationFormat>Widescreen</PresentationFormat>
  <Paragraphs>128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Jose Zuniga (She/Her)</dc:creator>
  <cp:lastModifiedBy>Maria Jose Zuniga (She/Her)</cp:lastModifiedBy>
  <cp:revision>5</cp:revision>
  <dcterms:created xsi:type="dcterms:W3CDTF">2025-11-02T12:43:25Z</dcterms:created>
  <dcterms:modified xsi:type="dcterms:W3CDTF">2025-11-03T17:09:05Z</dcterms:modified>
</cp:coreProperties>
</file>